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Pipeline graphic: generated for this project (no external source).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 external visuals used on this slide.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 external visuals used on this slide.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 external visuals used on this slide.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 external visuals used on this slide.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 external visuals used on this slide.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 external visuals used on this slide.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Surgical Image Data Lake Pipeline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+ AWS S3 + SQLite + DVC (end-to-end demo)</a:t>
            </a:r>
            <a:endParaRPr lang="en-US" sz="1600" dirty="0"/>
          </a:p>
        </p:txBody>
      </p:sp>
      <p:pic>
        <p:nvPicPr>
          <p:cNvPr id="4" name="Image 0" descr="/mnt/data/A_2D_digital_infographic_titled_&quot;Surgical_Image_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8238" y="1417320"/>
            <a:ext cx="7475220" cy="4983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653796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Present this as “Blob (S3) + Brain (SQLite) + Lineage (DVC)”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Environment setup (Colab + AWS + DVC)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 reproducible runtime that can push/pull data from S3 with one click.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920240" cy="457200"/>
          </a:xfrm>
          <a:prstGeom prst="round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499616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08760" y="1499616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55080" y="1920240"/>
            <a:ext cx="0" cy="46177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6596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 (in Colab)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377440"/>
            <a:ext cx="548640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AWS secrets in Colab (AWS_ACCESS_KEY_ID / AWS_SECRET_ACCESS_KEY).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toolchain: dvc[s3], boto3, pillow, numpy, torch.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git + dvc in the notebook workspace.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or choose an S3 bucket and set it as the DVC remote.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5074920"/>
            <a:ext cx="5577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521208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demo live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5486400"/>
            <a:ext cx="5577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that DVC can talk to S3 (run `dvc remote list`, then a tiny `dvc push`).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37960" y="1965960"/>
            <a:ext cx="5010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75120" y="2377440"/>
            <a:ext cx="48920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is ephemeral; S3 keeps artifacts after the runtime resets.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DVC remote config makes data retrieval repeatable for anyone on the team.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“compute session” from “source of truth”.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537960" y="3977640"/>
            <a:ext cx="5010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4114800"/>
            <a:ext cx="5010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snippet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37960" y="4480560"/>
            <a:ext cx="5010912" cy="2011680"/>
          </a:xfrm>
          <a:prstGeom prst="rect">
            <a:avLst/>
          </a:prstGeom>
          <a:solidFill>
            <a:srgbClr val="0B1220"/>
          </a:solidFill>
          <a:ln w="12700">
            <a:solidFill>
              <a:srgbClr val="1D4ED8"/>
            </a:solidFill>
          </a:ln>
          <a:effectLst>
            <a:outerShdw sx="100000" sy="100000" kx="0" ky="0" algn="bl" rotWithShape="0" blurRad="38100" dist="15240" dir="2700000">
              <a:srgbClr val="000000">
                <a:alpha val="18000"/>
              </a:srgbClr>
            </a:outerShdw>
          </a:effectLst>
        </p:spPr>
        <p:txBody>
          <a:bodyPr wrap="square" lIns="2286" tIns="2286" rIns="2286" bIns="2286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DVC remote (S3)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BUCKET = "&lt;your-bucket&gt;"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REMOTE = "s3remote"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!dvc remote add -d $REMOTE s3://$BUCKET/dvcstore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!dvc remote modify $REMOTE version_aware true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Generate synthetic X‑ray images (Hip, AP view)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create a realistic-enough dummy dataset + ground-truth label (pelvic_tilt).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920240" cy="457200"/>
          </a:xfrm>
          <a:prstGeom prst="round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499616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08760" y="1499616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55080" y="1920240"/>
            <a:ext cx="0" cy="46177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6596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 (in Colab)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377440"/>
            <a:ext cx="548640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small generator that draws a pelvis “phantom”.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 pelvic_tilt per sample (e.g., N(12°, 5°)).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simple noise to mimic imaging variability.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PNGs to a local staging directory (data/raw).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5074920"/>
            <a:ext cx="5577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521208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demo live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5486400"/>
            <a:ext cx="5577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a sample image + its pelvic_tilt label in the notebook.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37960" y="1965960"/>
            <a:ext cx="5010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75120" y="2377440"/>
            <a:ext cx="48920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domain-awareness: images + labels are causally linked.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locally keeps generation fast; upload happens in a separate step.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pattern works for real DICOM/DRR generation later.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537960" y="3977640"/>
            <a:ext cx="5010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4114800"/>
            <a:ext cx="5010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snippet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37960" y="4480560"/>
            <a:ext cx="5010912" cy="2011680"/>
          </a:xfrm>
          <a:prstGeom prst="rect">
            <a:avLst/>
          </a:prstGeom>
          <a:solidFill>
            <a:srgbClr val="0B1220"/>
          </a:solidFill>
          <a:ln w="12700">
            <a:solidFill>
              <a:srgbClr val="C2410C"/>
            </a:solidFill>
          </a:ln>
          <a:effectLst>
            <a:outerShdw sx="100000" sy="100000" kx="0" ky="0" algn="bl" rotWithShape="0" blurRad="38100" dist="15240" dir="2700000">
              <a:srgbClr val="000000">
                <a:alpha val="18000"/>
              </a:srgbClr>
            </a:outerShdw>
          </a:effectLst>
        </p:spPr>
        <p:txBody>
          <a:bodyPr wrap="square" lIns="2286" tIns="2286" rIns="2286" bIns="2286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 = generator.create_dataset_entry()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meta = {image_id, pelvic_tilt, file_path, s3_key}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print(meta["pelvic_tilt"], meta["file_path"])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Log metadata to SQLite (the “Brain”)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query by clinical parameters without scanning S3 or file paths.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920240" cy="457200"/>
          </a:xfrm>
          <a:prstGeom prst="round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499616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08760" y="1499616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55080" y="1920240"/>
            <a:ext cx="0" cy="46177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6596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 (in Colab)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377440"/>
            <a:ext cx="548640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SQLite DB and a surgical_index table.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one row per image (image_id, s3_uri, pelvic_tilt, view_type, …).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file storage and query logic separate (URI lives in DB).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Optionally upload the DB file to S3 as a backed-up artifact.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5074920"/>
            <a:ext cx="5577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521208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demo live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5486400"/>
            <a:ext cx="5577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query (e.g., pelvic_tilt &gt; 15°) and print the S3 URIs returned.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37960" y="1965960"/>
            <a:ext cx="5010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75120" y="2377440"/>
            <a:ext cx="48920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gives instant cohort selection (edge cases, balancing, QA).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brittle folder conventions like data_v1_final_final.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downstream training pipelines deterministic and auditable.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537960" y="3977640"/>
            <a:ext cx="5010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4114800"/>
            <a:ext cx="5010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snippet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37960" y="4480560"/>
            <a:ext cx="5010912" cy="2011680"/>
          </a:xfrm>
          <a:prstGeom prst="rect">
            <a:avLst/>
          </a:prstGeom>
          <a:solidFill>
            <a:srgbClr val="0B1220"/>
          </a:solidFill>
          <a:ln w="12700">
            <a:solidFill>
              <a:srgbClr val="15803D"/>
            </a:solidFill>
          </a:ln>
          <a:effectLst>
            <a:outerShdw sx="100000" sy="100000" kx="0" ky="0" algn="bl" rotWithShape="0" blurRad="38100" dist="15240" dir="2700000">
              <a:srgbClr val="000000">
                <a:alpha val="18000"/>
              </a:srgbClr>
            </a:outerShdw>
          </a:effectLst>
        </p:spPr>
        <p:txBody>
          <a:bodyPr wrap="square" lIns="2286" tIns="2286" rIns="2286" bIns="2286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= """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s3_uri FROM surgical_index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pelvic_tilt &gt; 15 AND anatomy='Hip'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rows = conn.execute(q).fetchall()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print(len(rows))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Version + upload (DVC push to S3)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store large files in S3 while keeping lightweight pointers in git.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920240" cy="457200"/>
          </a:xfrm>
          <a:prstGeom prst="round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499616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08760" y="1499616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55080" y="1920240"/>
            <a:ext cx="0" cy="46177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6596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 (in Colab)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377440"/>
            <a:ext cx="548640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the dataset directory with DVC: `dvc add data/raw`.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only the pointer file (data/raw.dvc) and .gitignore changes.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binaries to S3: `dvc push`.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up the SQLite DB to S3 (boto3 upload).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5074920"/>
            <a:ext cx="5577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521208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demo live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5486400"/>
            <a:ext cx="5577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that `dvc push` uploads, then delete local data and `dvc pull` restores it.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37960" y="1965960"/>
            <a:ext cx="5010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75120" y="2377440"/>
            <a:ext cx="48920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“time travel”: checkout a git commit → restore exact data state.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holds the heavy artifacts; git stays fast and clean.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reproducible experiments across machines/runtimes.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537960" y="3977640"/>
            <a:ext cx="5010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4114800"/>
            <a:ext cx="5010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snippet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37960" y="4480560"/>
            <a:ext cx="5010912" cy="2011680"/>
          </a:xfrm>
          <a:prstGeom prst="rect">
            <a:avLst/>
          </a:prstGeom>
          <a:solidFill>
            <a:srgbClr val="0B1220"/>
          </a:solidFill>
          <a:ln w="12700">
            <a:solidFill>
              <a:srgbClr val="1D4ED8"/>
            </a:solidFill>
          </a:ln>
          <a:effectLst>
            <a:outerShdw sx="100000" sy="100000" kx="0" ky="0" algn="bl" rotWithShape="0" blurRad="38100" dist="15240" dir="2700000">
              <a:srgbClr val="000000">
                <a:alpha val="18000"/>
              </a:srgbClr>
            </a:outerShdw>
          </a:effectLst>
        </p:spPr>
        <p:txBody>
          <a:bodyPr wrap="square" lIns="2286" tIns="2286" rIns="2286" bIns="2286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!dvc add data/raw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!git add data/raw.dvc .gitignore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!git commit -m "Ingest batch 1"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!dvc push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Build cohorts via SQL (and pull data on demand)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slice the dataset by conditions (tilt, view, anatomy) for training/QA.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920240" cy="457200"/>
          </a:xfrm>
          <a:prstGeom prst="round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499616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08760" y="1499616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55080" y="1920240"/>
            <a:ext cx="0" cy="46177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6596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 (in Colab)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377440"/>
            <a:ext cx="548640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SQL to define a cohort (e.g., high tilt).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“manifest” list of image_ids/S3 URIs.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fresh runtime: run `dvc pull` to populate files locally.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only the cohort in your dataloader/training job.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5074920"/>
            <a:ext cx="5577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521208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demo live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5486400"/>
            <a:ext cx="5577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cohort size + show 3 sample IDs and their labels.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37960" y="1965960"/>
            <a:ext cx="5010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75120" y="2377440"/>
            <a:ext cx="48920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 clinical question into a deterministic dataset slice.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training repeatable and debuggable (same query = same cohort).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Scales: the query pattern is constant even as data grows.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537960" y="3977640"/>
            <a:ext cx="5010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4114800"/>
            <a:ext cx="5010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snippet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37960" y="4480560"/>
            <a:ext cx="5010912" cy="2011680"/>
          </a:xfrm>
          <a:prstGeom prst="rect">
            <a:avLst/>
          </a:prstGeom>
          <a:solidFill>
            <a:srgbClr val="0B1220"/>
          </a:solidFill>
          <a:ln w="12700">
            <a:solidFill>
              <a:srgbClr val="15803D"/>
            </a:solidFill>
          </a:ln>
          <a:effectLst>
            <a:outerShdw sx="100000" sy="100000" kx="0" ky="0" algn="bl" rotWithShape="0" blurRad="38100" dist="15240" dir="2700000">
              <a:srgbClr val="000000">
                <a:alpha val="18000"/>
              </a:srgbClr>
            </a:outerShdw>
          </a:effectLst>
        </p:spPr>
        <p:txBody>
          <a:bodyPr wrap="square" lIns="2286" tIns="2286" rIns="2286" bIns="2286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cohort = conn.execute(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"SELECT image_id FROM surgical_index WHERE pelvic_tilt &gt; 15"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).fetchall()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ids = [r[0] for r in cohort]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— Train a small model (PyTorch) on the selected cohort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prove end-to-end usability: DB → files → tensors → training loop.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920240" cy="457200"/>
          </a:xfrm>
          <a:prstGeom prst="round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499616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08760" y="1499616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55080" y="1920240"/>
            <a:ext cx="0" cy="46177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6596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 (in Colab)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377440"/>
            <a:ext cx="548640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Dataset that uses the DB as the index.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PNGs from data/raw and return (image_tensor, pelvic_tilt).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tiny baseline model (e.g., a small CNN or linear head).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metrics + (optional) model weights back to S3.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5074920"/>
            <a:ext cx="5577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521208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demo live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5486400"/>
            <a:ext cx="5577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1–2 epochs, show loss decreasing, and save a checkpoint to S3.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37960" y="1965960"/>
            <a:ext cx="5010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75120" y="2377440"/>
            <a:ext cx="48920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the whole loop: ingestion → curation → training.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it easy to debug edge cases by slicing the cohort.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pattern extends to real training infra (SageMaker / K8s jobs).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537960" y="3977640"/>
            <a:ext cx="5010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4114800"/>
            <a:ext cx="5010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snippet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37960" y="4480560"/>
            <a:ext cx="5010912" cy="2011680"/>
          </a:xfrm>
          <a:prstGeom prst="rect">
            <a:avLst/>
          </a:prstGeom>
          <a:solidFill>
            <a:srgbClr val="0B1220"/>
          </a:solidFill>
          <a:ln w="12700">
            <a:solidFill>
              <a:srgbClr val="C2410C"/>
            </a:solidFill>
          </a:ln>
          <a:effectLst>
            <a:outerShdw sx="100000" sy="100000" kx="0" ky="0" algn="bl" rotWithShape="0" blurRad="38100" dist="15240" dir="2700000">
              <a:srgbClr val="000000">
                <a:alpha val="18000"/>
              </a:srgbClr>
            </a:outerShdw>
          </a:effectLst>
        </p:spPr>
        <p:txBody>
          <a:bodyPr wrap="square" lIns="2286" tIns="2286" rIns="2286" bIns="2286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x, y in loader: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pred = model(x)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loss = loss_fn(pred.squeeze(), y)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loss.backward(); opt.step(); opt.zero_grad()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Generated with ChatGPT</dc:creator>
  <cp:lastModifiedBy>Generated with ChatGPT</cp:lastModifiedBy>
  <cp:revision>1</cp:revision>
  <dcterms:created xsi:type="dcterms:W3CDTF">2026-01-04T15:23:49Z</dcterms:created>
  <dcterms:modified xsi:type="dcterms:W3CDTF">2026-01-04T15:23:49Z</dcterms:modified>
</cp:coreProperties>
</file>